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26c0025acb4ebe" /><Relationship Type="http://schemas.openxmlformats.org/officeDocument/2006/relationships/extended-properties" Target="/docProps/app.xml" Id="Re3a0159f276d4ce2" /><Relationship Type="http://schemas.openxmlformats.org/officeDocument/2006/relationships/officeDocument" Target="/ppt/presentation.xml" Id="Ra14eef52a4b344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d3b2672a854f64"/>
  </p:sldMasterIdLst>
  <p:notesMasterIdLst>
    <p:notesMasterId xmlns:r="http://schemas.openxmlformats.org/officeDocument/2006/relationships" r:id="Rc473469433b2434e"/>
  </p:notesMasterIdLst>
  <p:sldIdLst>
    <p:sldId xmlns:r="http://schemas.openxmlformats.org/officeDocument/2006/relationships" id="256" r:id="R1bfeb459e6c04172"/>
    <p:sldId xmlns:r="http://schemas.openxmlformats.org/officeDocument/2006/relationships" id="257" r:id="R5be4a3697ef44aa3"/>
    <p:sldId xmlns:r="http://schemas.openxmlformats.org/officeDocument/2006/relationships" id="258" r:id="R35a03666686e4588"/>
    <p:sldId xmlns:r="http://schemas.openxmlformats.org/officeDocument/2006/relationships" id="259" r:id="Rc919378dcfbc45ee"/>
    <p:sldId xmlns:r="http://schemas.openxmlformats.org/officeDocument/2006/relationships" id="260" r:id="Rbd5b3ab02ab84f45"/>
    <p:sldId xmlns:r="http://schemas.openxmlformats.org/officeDocument/2006/relationships" id="261" r:id="R8f30ecb0f85d4ba7"/>
    <p:sldId xmlns:r="http://schemas.openxmlformats.org/officeDocument/2006/relationships" id="262" r:id="R131ffba4ebd54a26"/>
    <p:sldId xmlns:r="http://schemas.openxmlformats.org/officeDocument/2006/relationships" id="263" r:id="R633c0173fc614437"/>
    <p:sldId xmlns:r="http://schemas.openxmlformats.org/officeDocument/2006/relationships" id="264" r:id="Rea8edbaeef81408f"/>
    <p:sldId xmlns:r="http://schemas.openxmlformats.org/officeDocument/2006/relationships" id="265" r:id="R5cec13aad6224eca"/>
    <p:sldId xmlns:r="http://schemas.openxmlformats.org/officeDocument/2006/relationships" id="266" r:id="R0dcdbb0b7621437f"/>
    <p:sldId xmlns:r="http://schemas.openxmlformats.org/officeDocument/2006/relationships" id="267" r:id="R3b3f69430ceb40a7"/>
    <p:sldId xmlns:r="http://schemas.openxmlformats.org/officeDocument/2006/relationships" id="268" r:id="R29cdf0aac3324fdb"/>
    <p:sldId xmlns:r="http://schemas.openxmlformats.org/officeDocument/2006/relationships" id="269" r:id="Rc1a9856d6d874cd7"/>
    <p:sldId xmlns:r="http://schemas.openxmlformats.org/officeDocument/2006/relationships" id="270" r:id="R7fb98d15601e419e"/>
    <p:sldId xmlns:r="http://schemas.openxmlformats.org/officeDocument/2006/relationships" id="271" r:id="Rd5f8e5affaf048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51a82c66044d8" /><Relationship Type="http://schemas.openxmlformats.org/officeDocument/2006/relationships/slideMaster" Target="/ppt/slideMasters/slideMaster1.xml" Id="Rb3d3b2672a854f64" /><Relationship Type="http://schemas.openxmlformats.org/officeDocument/2006/relationships/notesMaster" Target="/ppt/notesMasters/notesMaster1.xml" Id="Rc473469433b2434e" /><Relationship Type="http://schemas.openxmlformats.org/officeDocument/2006/relationships/presProps" Target="/ppt/presProps.xml" Id="Rc729c2d910a448f0" /><Relationship Type="http://schemas.openxmlformats.org/officeDocument/2006/relationships/viewProps" Target="/ppt/viewProps.xml" Id="R15dca57113f54cc8" /><Relationship Type="http://schemas.openxmlformats.org/officeDocument/2006/relationships/tableStyles" Target="/ppt/tableStyles.xml" Id="R63e932bd23fd472c" /><Relationship Type="http://schemas.openxmlformats.org/officeDocument/2006/relationships/slide" Target="/ppt/slides/slide1.xml" Id="R1bfeb459e6c04172" /><Relationship Type="http://schemas.openxmlformats.org/officeDocument/2006/relationships/slide" Target="/ppt/slides/slide2.xml" Id="R5be4a3697ef44aa3" /><Relationship Type="http://schemas.openxmlformats.org/officeDocument/2006/relationships/slide" Target="/ppt/slides/slide3.xml" Id="R35a03666686e4588" /><Relationship Type="http://schemas.openxmlformats.org/officeDocument/2006/relationships/slide" Target="/ppt/slides/slide4.xml" Id="Rc919378dcfbc45ee" /><Relationship Type="http://schemas.openxmlformats.org/officeDocument/2006/relationships/slide" Target="/ppt/slides/slide5.xml" Id="Rbd5b3ab02ab84f45" /><Relationship Type="http://schemas.openxmlformats.org/officeDocument/2006/relationships/slide" Target="/ppt/slides/slide6.xml" Id="R8f30ecb0f85d4ba7" /><Relationship Type="http://schemas.openxmlformats.org/officeDocument/2006/relationships/slide" Target="/ppt/slides/slide7.xml" Id="R131ffba4ebd54a26" /><Relationship Type="http://schemas.openxmlformats.org/officeDocument/2006/relationships/slide" Target="/ppt/slides/slide8.xml" Id="R633c0173fc614437" /><Relationship Type="http://schemas.openxmlformats.org/officeDocument/2006/relationships/slide" Target="/ppt/slides/slide9.xml" Id="Rea8edbaeef81408f" /><Relationship Type="http://schemas.openxmlformats.org/officeDocument/2006/relationships/slide" Target="/ppt/slides/slide10.xml" Id="R5cec13aad6224eca" /><Relationship Type="http://schemas.openxmlformats.org/officeDocument/2006/relationships/slide" Target="/ppt/slides/slide11.xml" Id="R0dcdbb0b7621437f" /><Relationship Type="http://schemas.openxmlformats.org/officeDocument/2006/relationships/slide" Target="/ppt/slides/slide12.xml" Id="R3b3f69430ceb40a7" /><Relationship Type="http://schemas.openxmlformats.org/officeDocument/2006/relationships/slide" Target="/ppt/slides/slide13.xml" Id="R29cdf0aac3324fdb" /><Relationship Type="http://schemas.openxmlformats.org/officeDocument/2006/relationships/slide" Target="/ppt/slides/slide14.xml" Id="Rc1a9856d6d874cd7" /><Relationship Type="http://schemas.openxmlformats.org/officeDocument/2006/relationships/slide" Target="/ppt/slides/slide15.xml" Id="R7fb98d15601e419e" /><Relationship Type="http://schemas.openxmlformats.org/officeDocument/2006/relationships/slide" Target="/ppt/slides/slide16.xml" Id="Rd5f8e5affaf048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78bf3235ac4e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cef8270b4f4fe3" /><Relationship Type="http://schemas.openxmlformats.org/officeDocument/2006/relationships/notesMaster" Target="/ppt/notesMasters/notesMaster1.xml" Id="R62bdf5cbcf0346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4e12f7e73e4762" /><Relationship Type="http://schemas.openxmlformats.org/officeDocument/2006/relationships/notesMaster" Target="/ppt/notesMasters/notesMaster1.xml" Id="Rf902623010484c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6360a527c44a3d" /><Relationship Type="http://schemas.openxmlformats.org/officeDocument/2006/relationships/notesMaster" Target="/ppt/notesMasters/notesMaster1.xml" Id="Reca5751d797e46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fa6e6279b04c1e" /><Relationship Type="http://schemas.openxmlformats.org/officeDocument/2006/relationships/notesMaster" Target="/ppt/notesMasters/notesMaster1.xml" Id="R394a86d911564f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d59e831ed844cd" /><Relationship Type="http://schemas.openxmlformats.org/officeDocument/2006/relationships/notesMaster" Target="/ppt/notesMasters/notesMaster1.xml" Id="R7ea692ebf563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6b502f1fe34c6a" /><Relationship Type="http://schemas.openxmlformats.org/officeDocument/2006/relationships/notesMaster" Target="/ppt/notesMasters/notesMaster1.xml" Id="Rcf3101759b9345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62f57f8f9740ca" /><Relationship Type="http://schemas.openxmlformats.org/officeDocument/2006/relationships/notesMaster" Target="/ppt/notesMasters/notesMaster1.xml" Id="R99fd3b965c7943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600d3b2e234b3e" /><Relationship Type="http://schemas.openxmlformats.org/officeDocument/2006/relationships/notesMaster" Target="/ppt/notesMasters/notesMaster1.xml" Id="R2241f7f9e339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8358999ff348ad" /><Relationship Type="http://schemas.openxmlformats.org/officeDocument/2006/relationships/notesMaster" Target="/ppt/notesMasters/notesMaster1.xml" Id="Rcdece203bae641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46db7011f84378" /><Relationship Type="http://schemas.openxmlformats.org/officeDocument/2006/relationships/notesMaster" Target="/ppt/notesMasters/notesMaster1.xml" Id="Rd9049eb56aa140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a2daa518f34be7" /><Relationship Type="http://schemas.openxmlformats.org/officeDocument/2006/relationships/notesMaster" Target="/ppt/notesMasters/notesMaster1.xml" Id="R67d137d63b124e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97f8c632f14c1e" /><Relationship Type="http://schemas.openxmlformats.org/officeDocument/2006/relationships/notesMaster" Target="/ppt/notesMasters/notesMaster1.xml" Id="Re24d32c2bcd547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264517eafe4e4b" /><Relationship Type="http://schemas.openxmlformats.org/officeDocument/2006/relationships/notesMaster" Target="/ppt/notesMasters/notesMaster1.xml" Id="R8a5d5f321de648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e48102ab4a4da4" /><Relationship Type="http://schemas.openxmlformats.org/officeDocument/2006/relationships/notesMaster" Target="/ppt/notesMasters/notesMaster1.xml" Id="Rb9590e23a98845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d0a0a361924dd8" /><Relationship Type="http://schemas.openxmlformats.org/officeDocument/2006/relationships/notesMaster" Target="/ppt/notesMasters/notesMaster1.xml" Id="Rd0e3ca21e7574a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325a56593749fe" /><Relationship Type="http://schemas.openxmlformats.org/officeDocument/2006/relationships/notesMaster" Target="/ppt/notesMasters/notesMaster1.xml" Id="Re1029744f7914f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24409cbf049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8f1ded37c4f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c169f902545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77214086f43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7fda1841846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c6919980c46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85d8a12b74b7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41e24a4b042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4a8d0e81747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5ca4c0dcf498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329c74935478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CE54F0-17ED-B370-AC7D-576E190D67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DEFFAC-5AE5-0E93-83FD-DAD6AAE158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F772DE-C0F0-6C44-6F1F-B0471E9E30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67DFA8-A63E-4653-1DFD-35F1952A00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79E8C9-46FD-77EC-1918-CBFC05C8AF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DE36A0-1207-2514-6B54-590C7613D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0BD80E-C786-1BC3-26D8-42713F268E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34914A-BBF7-A045-3E3C-25540EDA48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E42D19-72AE-C72D-95EE-55A0A85CDE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43ECFE-7932-B8C9-9CB7-651135F7FE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B50273-C258-996E-A2F1-8C14F2F57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21AFEB-6AEF-4A2D-6B06-67A8150CB2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B8FC9F-A56C-1DA7-F591-A563F80000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FB16D5-D3FE-7CA4-AB14-215D4BC302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221306-A243-3C0D-A72E-29EFFB6FF8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A0152-2E12-1633-988D-2AB9F31AE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A37EE9-3D6A-C7F7-C7E4-583077A9EC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F16B2D-5213-2756-11A9-E06D9AC565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6B6F3C-06D3-209D-22BE-413C0EE3DE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F82A93-5D8C-CCE1-F950-05D205AFF4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B1E3F0-0E71-374C-3DBC-5B4174317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788254-CDEC-052F-A5EF-D6220F5C4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B573FE-D29E-FD48-6B0C-4F94825DAC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51F83A-94DA-B4EB-956E-D8783623FF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0278B1-AA2C-2CC7-9952-36DFDBEB80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8D79105-2100-6B98-0CC8-A36CE2A3CA7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434C31-2B9E-8DD5-8565-9BEB7C795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DCCFC11-56E9-B078-298D-2F02C7DF24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FF29482-7030-A8E7-B56C-F2F576A55E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2F0C06-9170-7FF2-7F82-9ABF85E57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6723A27-DC6A-7700-A2E9-2FA919B78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92DB14F-D13B-00FB-45C9-6FB9CE4084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AABEFE7-A587-4916-F8AE-6283FEAC0C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021DE03-8601-F542-B026-02EF2AD09F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0C4B9BA-FCB3-E5CB-5FFB-3F8ACF183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C7111A1-4C80-11F6-5AFA-08E44CD0EC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124F73-CBDD-FDDF-9B28-8D43C675E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436DF3-AE97-1809-F94F-BD66FD198F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32C018-B974-384D-A967-5C3B2FA4E6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7FC97F-1C0F-C2E6-AF32-8FF078A57F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1B7681-6E84-55BA-929A-8F08FF7BED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69E8A2-4112-F523-5BFC-A2AE9415A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4E677B-B6E2-265D-6204-B84FD8756D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A81D97-FA52-D1CC-6868-5D3002541C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22B250-2DEA-3355-028F-EEE10EBFD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918570-AFDC-69B6-6242-E9EBFB785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9314A01-3CAA-C881-2948-D35F42488B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158EBAC-431D-B2CE-B74E-87E10E5C6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5B52A1-0FFA-1EBA-4DC4-1D2DFD8C1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C78023-2069-46DA-01F1-DB0926B3C5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6AD451-910B-EDD9-4C58-96B4178425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A4E105-23CF-9187-291F-82016C7313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BB8386-534F-BD74-22FB-19D49E2108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1FDD-8EE0-C145-BC74-3CF9B0051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EE82D7-D0C9-EC01-29F1-7FDF20FD6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1AB9C1-4743-7BDE-74D0-A07CA8F8F4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FFD2B2-4D1F-B382-835F-499F67B556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69907F-761E-A051-8775-569704B726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4351ca66d44c76" /><Relationship Type="http://schemas.openxmlformats.org/officeDocument/2006/relationships/slideLayout" Target="/ppt/slideLayouts/slideLayout1.xml" Id="Re0c000799bb144d5" /><Relationship Type="http://schemas.openxmlformats.org/officeDocument/2006/relationships/slideLayout" Target="/ppt/slideLayouts/slideLayout2.xml" Id="R37d7d905b1814369" /><Relationship Type="http://schemas.openxmlformats.org/officeDocument/2006/relationships/slideLayout" Target="/ppt/slideLayouts/slideLayout3.xml" Id="Rcfb81a1ed0ab4637" /><Relationship Type="http://schemas.openxmlformats.org/officeDocument/2006/relationships/slideLayout" Target="/ppt/slideLayouts/slideLayout4.xml" Id="R30d59c1ca24f4022" /><Relationship Type="http://schemas.openxmlformats.org/officeDocument/2006/relationships/slideLayout" Target="/ppt/slideLayouts/slideLayout5.xml" Id="R38b73a49775248db" /><Relationship Type="http://schemas.openxmlformats.org/officeDocument/2006/relationships/slideLayout" Target="/ppt/slideLayouts/slideLayout6.xml" Id="Re2d5caee3d9b41ff" /><Relationship Type="http://schemas.openxmlformats.org/officeDocument/2006/relationships/slideLayout" Target="/ppt/slideLayouts/slideLayout7.xml" Id="R43d9be3a65154b18" /><Relationship Type="http://schemas.openxmlformats.org/officeDocument/2006/relationships/slideLayout" Target="/ppt/slideLayouts/slideLayout8.xml" Id="R64fd955fb836430d" /><Relationship Type="http://schemas.openxmlformats.org/officeDocument/2006/relationships/slideLayout" Target="/ppt/slideLayouts/slideLayout9.xml" Id="Rea0f6fe50e2149c1" /><Relationship Type="http://schemas.openxmlformats.org/officeDocument/2006/relationships/slideLayout" Target="/ppt/slideLayouts/slideLayout10.xml" Id="R48d0db97e3f94929" /><Relationship Type="http://schemas.openxmlformats.org/officeDocument/2006/relationships/slideLayout" Target="/ppt/slideLayouts/slideLayout11.xml" Id="R35b0c90533ce454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9B743B-7E29-195B-B32C-61227E408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ACF79CD-8398-EC94-2C4B-249A96EF3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790DDA-AB0F-94CA-8C26-55A85E40B7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1889ED-6CAA-22A0-19CE-A79BF39072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AA639D-48FC-FB47-D15A-49180C11B5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c000799bb144d5"/>
    <p:sldLayoutId xmlns:r="http://schemas.openxmlformats.org/officeDocument/2006/relationships" id="2147483650" r:id="R37d7d905b1814369"/>
    <p:sldLayoutId xmlns:r="http://schemas.openxmlformats.org/officeDocument/2006/relationships" id="2147483651" r:id="Rcfb81a1ed0ab4637"/>
    <p:sldLayoutId xmlns:r="http://schemas.openxmlformats.org/officeDocument/2006/relationships" id="2147483652" r:id="R30d59c1ca24f4022"/>
    <p:sldLayoutId xmlns:r="http://schemas.openxmlformats.org/officeDocument/2006/relationships" id="2147483653" r:id="R38b73a49775248db"/>
    <p:sldLayoutId xmlns:r="http://schemas.openxmlformats.org/officeDocument/2006/relationships" id="2147483654" r:id="Re2d5caee3d9b41ff"/>
    <p:sldLayoutId xmlns:r="http://schemas.openxmlformats.org/officeDocument/2006/relationships" id="2147483655" r:id="R43d9be3a65154b18"/>
    <p:sldLayoutId xmlns:r="http://schemas.openxmlformats.org/officeDocument/2006/relationships" id="2147483656" r:id="R64fd955fb836430d"/>
    <p:sldLayoutId xmlns:r="http://schemas.openxmlformats.org/officeDocument/2006/relationships" id="2147483657" r:id="Rea0f6fe50e2149c1"/>
    <p:sldLayoutId xmlns:r="http://schemas.openxmlformats.org/officeDocument/2006/relationships" id="2147483658" r:id="R48d0db97e3f94929"/>
    <p:sldLayoutId xmlns:r="http://schemas.openxmlformats.org/officeDocument/2006/relationships" id="2147483659" r:id="R35b0c90533ce454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e53c603fe4240" /><Relationship Type="http://schemas.openxmlformats.org/officeDocument/2006/relationships/notesSlide" Target="/ppt/notesSlides/notesSlide1.xml" Id="Ra397b65157f0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52bf486e94deb" /><Relationship Type="http://schemas.openxmlformats.org/officeDocument/2006/relationships/notesSlide" Target="/ppt/notesSlides/notesSlide2.xml" Id="Rc5ca56e0eddc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1c72080e8f41d3" /><Relationship Type="http://schemas.openxmlformats.org/officeDocument/2006/relationships/notesSlide" Target="/ppt/notesSlides/notesSlide3.xml" Id="Rebfbd9a9fa4b40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306f60a674de7" /><Relationship Type="http://schemas.openxmlformats.org/officeDocument/2006/relationships/notesSlide" Target="/ppt/notesSlides/notesSlide4.xml" Id="R979a86a28ba04c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f78e2f6cfa4b5b" /><Relationship Type="http://schemas.openxmlformats.org/officeDocument/2006/relationships/notesSlide" Target="/ppt/notesSlides/notesSlide5.xml" Id="Rd83a8ce90f384c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91aeb563064c06" /><Relationship Type="http://schemas.openxmlformats.org/officeDocument/2006/relationships/notesSlide" Target="/ppt/notesSlides/notesSlide6.xml" Id="Rbc7d8d1e0ac0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62dee946c47e9" /><Relationship Type="http://schemas.openxmlformats.org/officeDocument/2006/relationships/notesSlide" Target="/ppt/notesSlides/notesSlide7.xml" Id="Rf2fb9a04d66d40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d683dd8efa4f79" /><Relationship Type="http://schemas.openxmlformats.org/officeDocument/2006/relationships/notesSlide" Target="/ppt/notesSlides/notesSlide8.xml" Id="R70e6e7459eba4c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ab9cd82825420f" /><Relationship Type="http://schemas.openxmlformats.org/officeDocument/2006/relationships/image" Target="/ppt/media/image.png" Id="R24bd3efd9bd34442" /><Relationship Type="http://schemas.openxmlformats.org/officeDocument/2006/relationships/notesSlide" Target="/ppt/notesSlides/notesSlide9.xml" Id="R894e06db12094b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e983c6095f4a83" /><Relationship Type="http://schemas.openxmlformats.org/officeDocument/2006/relationships/notesSlide" Target="/ppt/notesSlides/notesSlide10.xml" Id="R1c73ec8fb3af48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30777e8dcc4285" /><Relationship Type="http://schemas.openxmlformats.org/officeDocument/2006/relationships/notesSlide" Target="/ppt/notesSlides/notesSlide11.xml" Id="R669411a4b10e41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42ed070617401d" /><Relationship Type="http://schemas.openxmlformats.org/officeDocument/2006/relationships/notesSlide" Target="/ppt/notesSlides/notesSlide12.xml" Id="Re7f79bd5c47144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94db5ec7d4d22" /><Relationship Type="http://schemas.openxmlformats.org/officeDocument/2006/relationships/notesSlide" Target="/ppt/notesSlides/notesSlide13.xml" Id="Rc664b1c9e4714f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905db23cb454f" /><Relationship Type="http://schemas.openxmlformats.org/officeDocument/2006/relationships/notesSlide" Target="/ppt/notesSlides/notesSlide14.xml" Id="Ra6a555a47e3843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ce9c496d664fae" /><Relationship Type="http://schemas.openxmlformats.org/officeDocument/2006/relationships/notesSlide" Target="/ppt/notesSlides/notesSlide15.xml" Id="R90238d6c83a54a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e265884eef4047" /><Relationship Type="http://schemas.openxmlformats.org/officeDocument/2006/relationships/notesSlide" Target="/ppt/notesSlides/notesSlide16.xml" Id="Ra649387fc60944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C71E7D-C4D5-A762-26E6-54CB2F9E15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6240" y="439738"/>
            <a:ext cx="11399519" cy="1655762"/>
          </a:xfrm>
        </p:spPr>
        <p:txBody>
          <a:bodyPr xmlns:a="http://schemas.openxmlformats.org/drawingml/2006/main">
            <a:normAutofit fontScale="95042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Domain Graph Visualization for PTMs in PTM-WEB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27ED3DC-7598-11A5-41C2-414527CA47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30680" y="2923858"/>
            <a:ext cx="9144000" cy="304260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                                                 </a:t>
            </a:r>
            <a:r>
              <a:rPr sz="2800">
                <a:latin typeface="Times New Roman"/>
                <a:ea typeface="Times New Roman"/>
                <a:cs typeface="Times New Roman"/>
              </a:rPr>
              <a:t>Lab Meeting</a:t>
            </a: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 Shiv Kumar</a:t>
            </a:r>
          </a:p>
          <a:p xmlns:a="http://schemas.openxmlformats.org/drawingml/2006/main">
            <a:r>
              <a:rPr sz="1800">
                <a:latin typeface="Times New Roman"/>
                <a:ea typeface="Times New Roman"/>
                <a:cs typeface="Times New Roman"/>
              </a:rPr>
              <a:t>   Sept 30, 2026</a:t>
            </a: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76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3DEB20-E886-DA99-BFDF-8839E1297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Contribution scope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1BDF92-7F15-3038-19FD-D0FFFF20A5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2351405"/>
            <a:ext cx="10515600" cy="2616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200">
                <a:latin typeface="Times New Roman"/>
                <a:ea typeface="Times New Roman"/>
                <a:cs typeface="Times New Roman"/>
              </a:rPr>
              <a:t>My contribution: Domain Graph for protein domain/PTM mapping.</a:t>
            </a:r>
          </a:p>
          <a:p xmlns:a="http://schemas.openxmlformats.org/drawingml/2006/main">
            <a:r>
              <a:t>Interaction Network existed already; another contributor implemented it.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53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1D653B-7F1E-8254-0168-2AE067E6F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PTM-WEB context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82E66C-3DCD-6F1D-D50A-1BC423CDBA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PTM-WEB combines PTM knowledge with interactive protein views.</a:t>
            </a:r>
          </a:p>
          <a:p xmlns:a="http://schemas.openxmlformats.org/drawingml/2006/main">
            <a:r>
              <a:t>Domain Graph adds a residue-scale view beside the existing network.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25375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1D653B-7F1E-8254-0168-2AE067E6F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The visualization gap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82E66C-3DCD-6F1D-D50A-1BC423CDBA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Networks show protein relationships, not sites along a protein.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Domain Graph aligns domain regions and PTMs by residue position.</a:t>
            </a:r>
          </a:p>
        </p:txBody>
      </p:sp>
    </p:spTree>
    <p:extLst>
      <p:ext uri="{BB962C8B-B14F-4D97-AF65-F5344CB8AC3E}">
        <p14:creationId xmlns:p14="http://schemas.microsoft.com/office/powerpoint/2010/main" val="1722204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82DB24-A94D-324F-6AFA-E12BC1131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45D46B-69F1-744A-7199-894173AFF1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690688"/>
            <a:ext cx="11150600" cy="428043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Align protein domains and PTM sites on a residue-scaled track.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buNone/>
            </a:pPr>
            <a:r>
              <a:t>Add the graph to existing PTM-WEB query results.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95657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A37F45-D185-0166-397A-CE0E7C23E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Why sequence context matters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ADC6BD-C2E6-69A1-A9FD-F43F1EBEF9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6FD37-0731-4DE6-BFFB-2849155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Domain annotations and PTM sites are both expressed in residue coordinates.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Placing them on one scale makes their positions and nearby regions visible at a glance.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The graph is an exploration aid; biological interpretation still depends on annotation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3549466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6BB712-BCC7-14DD-A2C6-D476507062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Design approach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EB35BC-270F-7137-E6F3-486F678389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Map residue coordinates to a shared horizontal scale.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Use distinct segments and markers; reveal details on hover or click.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Support navigation across long proteins with zoom and pan.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32876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55CE1-954F-A93D-6996-15D0A7A0F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Data and method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830F1C-76F4-A49F-B3DC-8E43DE5466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99" y="1825625"/>
            <a:ext cx="9643534" cy="435133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latin typeface="Times New Roman"/>
                <a:ea typeface="Times New Roman"/>
                <a:cs typeface="Times New Roman"/>
              </a:rPr>
              <a:t>Select a protein from the query results and use its UniProt accession.</a:t>
            </a:r>
          </a:p>
          <a:p xmlns:a="http://schemas.openxmlformats.org/drawingml/2006/main">
            <a:r>
              <a:rPr sz="2400">
                <a:latin typeface="Times New Roman"/>
                <a:ea typeface="Times New Roman"/>
                <a:cs typeface="Times New Roman"/>
              </a:rPr>
              <a:t>Backend fetches sequence, domains, and PTM features.</a:t>
            </a:r>
          </a:p>
          <a:p xmlns:a="http://schemas.openxmlformats.org/drawingml/2006/main">
            <a:r>
              <a:rPr sz="2400">
                <a:latin typeface="Times New Roman"/>
                <a:ea typeface="Times New Roman"/>
                <a:cs typeface="Times New Roman"/>
              </a:rPr>
              <a:t>D3.js draws tracks; zoom, pan, hover, and click reveal details.</a:t>
            </a:r>
          </a:p>
        </p:txBody>
      </p:sp>
    </p:spTree>
    <p:extLst>
      <p:ext uri="{BB962C8B-B14F-4D97-AF65-F5344CB8AC3E}">
        <p14:creationId xmlns:p14="http://schemas.microsoft.com/office/powerpoint/2010/main" val="623818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B3AAA6-D751-3899-EF29-54507EA71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KDM5C example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138B90-C474-795D-94F5-51A988065A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559455"/>
            <a:ext cx="10515600" cy="481224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latin typeface="Times New Roman"/>
                <a:ea typeface="Times New Roman"/>
                <a:cs typeface="Times New Roman"/>
              </a:rPr>
              <a:t>Example shown: human KDM5C (P41229), viewed in the Domain Graph.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d3efd9bd34442"/>
          <a:srcRect xmlns:a="http://schemas.openxmlformats.org/drawingml/2006/main" l="0" t="33494" r="0" b="33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28875"/>
            <a:ext cx="10515600" cy="1952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499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C83A17-89D3-9A49-02A0-2791DB7D3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What the view shows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23DEFA-7139-5E81-1508-078DE893D26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KDM5C (P41229): 1,560 aa, 3 domain regions, 12 PTM sites.</a:t>
            </a:r>
            <a:endParaRPr sz="2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Regions: JmjN, ARID, and JmjC.</a:t>
            </a:r>
          </a:p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Visible PTMs: phosphorylation and ubiquitin/SUMO.</a:t>
            </a:r>
          </a:p>
        </p:txBody>
      </p:sp>
    </p:spTree>
    <p:extLst>
      <p:ext uri="{BB962C8B-B14F-4D97-AF65-F5344CB8AC3E}">
        <p14:creationId xmlns:p14="http://schemas.microsoft.com/office/powerpoint/2010/main" val="40036122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1E560A-8705-6D9D-E1E6-9D7FB10AE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Contribution boundary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9662DB-5118-600D-E93F-FA73484D86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 sz="26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95911-DD17-4205-ABF8-03E49A1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The Interaction Network was already part of PTM-WEB.</a:t>
            </a:r>
          </a:p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It was implemented by another contributor.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My contribution: Domain Graph and integration with query results.</a:t>
            </a:r>
          </a:p>
        </p:txBody>
      </p:sp>
    </p:spTree>
    <p:extLst>
      <p:ext uri="{BB962C8B-B14F-4D97-AF65-F5344CB8AC3E}">
        <p14:creationId xmlns:p14="http://schemas.microsoft.com/office/powerpoint/2010/main" val="37377224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1E560A-8705-6D9D-E1E6-9D7FB10AE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Using the graph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A4AAE2-0511-4280-BA90-1C22DC8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91" y="1838036"/>
            <a:ext cx="9772227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Interaction Network remains a separate, existing view.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Choose Domain Graph and select a queried protein.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Click a PTM cell to show that protein’s graph.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Scroll to zoom; drag to pan; click a domain to view its sequence.</a:t>
            </a:r>
          </a:p>
        </p:txBody>
      </p:sp>
    </p:spTree>
    <p:extLst>
      <p:ext uri="{BB962C8B-B14F-4D97-AF65-F5344CB8AC3E}">
        <p14:creationId xmlns:p14="http://schemas.microsoft.com/office/powerpoint/2010/main" val="17437228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1838F4-F664-FECD-191C-9B5240256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Current limitations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32088B-7BF6-7501-E82C-E8143AAE04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Backend currently returns UniProt domains only.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InterPro/Pfam retrieval is disabled in this code version.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Domain and PTM details require UniProt access.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If fetches fail, the UI can fall back to curated PTM-only data.</a:t>
            </a:r>
          </a:p>
        </p:txBody>
      </p:sp>
    </p:spTree>
    <p:extLst>
      <p:ext uri="{BB962C8B-B14F-4D97-AF65-F5344CB8AC3E}">
        <p14:creationId xmlns:p14="http://schemas.microsoft.com/office/powerpoint/2010/main" val="2513720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8935CC-4EFB-5B2E-5991-F9B54166C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Work completed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5B399BF-36BE-6EF8-80A2-EB484DB650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26 Sep 2026 — first Domain Graph version committed.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28 Sep 2026 — follow-up: table navigation and graph refinements.</a:t>
            </a:r>
          </a:p>
        </p:txBody>
      </p:sp>
    </p:spTree>
    <p:extLst>
      <p:ext uri="{BB962C8B-B14F-4D97-AF65-F5344CB8AC3E}">
        <p14:creationId xmlns:p14="http://schemas.microsoft.com/office/powerpoint/2010/main" val="9561903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FD8992-AAD4-4F9C-93B7-C1F9AF1A2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Possible next steps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231A9E-233A-665C-CBFD-1FE0D49989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Try multi-protein queries and varied annotation coverage.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Review InterPro/Pfam if retrieval is restored and verified.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Check the flow with representative proteins.</a:t>
            </a:r>
          </a:p>
        </p:txBody>
      </p:sp>
    </p:spTree>
    <p:extLst>
      <p:ext uri="{BB962C8B-B14F-4D97-AF65-F5344CB8AC3E}">
        <p14:creationId xmlns:p14="http://schemas.microsoft.com/office/powerpoint/2010/main" val="34186323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6D953F-512B-D23C-E38C-2202E6A39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4467" y="2617258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560781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2026-09-28T06:35:19.4440000Z</dcterms:created>
  <dcterms:modified xsi:type="dcterms:W3CDTF">2026-09-28T06:35:19.4440000Z</dcterms:modified>
</coreProperties>
</file>
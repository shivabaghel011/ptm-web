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624cdc86664431" /><Relationship Type="http://schemas.openxmlformats.org/officeDocument/2006/relationships/extended-properties" Target="/docProps/app.xml" Id="Ra30f421ca0614922" /><Relationship Type="http://schemas.openxmlformats.org/officeDocument/2006/relationships/officeDocument" Target="/ppt/presentation.xml" Id="R176ce59788a2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e3ec854da4ae6"/>
  </p:sldMasterIdLst>
  <p:notesMasterIdLst>
    <p:notesMasterId xmlns:r="http://schemas.openxmlformats.org/officeDocument/2006/relationships" r:id="R7fa17f45398d4178"/>
  </p:notesMasterIdLst>
  <p:sldIdLst>
    <p:sldId xmlns:r="http://schemas.openxmlformats.org/officeDocument/2006/relationships" id="256" r:id="R4b25383843d84e82"/>
    <p:sldId xmlns:r="http://schemas.openxmlformats.org/officeDocument/2006/relationships" id="257" r:id="R5ca3042314c74040"/>
    <p:sldId xmlns:r="http://schemas.openxmlformats.org/officeDocument/2006/relationships" id="258" r:id="Rf130509d3d75467b"/>
    <p:sldId xmlns:r="http://schemas.openxmlformats.org/officeDocument/2006/relationships" id="259" r:id="Re245f13b8b8d459e"/>
    <p:sldId xmlns:r="http://schemas.openxmlformats.org/officeDocument/2006/relationships" id="260" r:id="R618807ea01b04cbc"/>
    <p:sldId xmlns:r="http://schemas.openxmlformats.org/officeDocument/2006/relationships" id="261" r:id="Rb741f267f119433c"/>
    <p:sldId xmlns:r="http://schemas.openxmlformats.org/officeDocument/2006/relationships" id="262" r:id="R19c20d4c80d54922"/>
    <p:sldId xmlns:r="http://schemas.openxmlformats.org/officeDocument/2006/relationships" id="263" r:id="Rc0b780c04c37413a"/>
    <p:sldId xmlns:r="http://schemas.openxmlformats.org/officeDocument/2006/relationships" id="264" r:id="Rbebca55cec3944fb"/>
    <p:sldId xmlns:r="http://schemas.openxmlformats.org/officeDocument/2006/relationships" id="265" r:id="R804bf843f2bc4f9f"/>
    <p:sldId xmlns:r="http://schemas.openxmlformats.org/officeDocument/2006/relationships" id="266" r:id="R04c18c24951d4b31"/>
    <p:sldId xmlns:r="http://schemas.openxmlformats.org/officeDocument/2006/relationships" id="267" r:id="R8d93e0e9e2cf400b"/>
    <p:sldId xmlns:r="http://schemas.openxmlformats.org/officeDocument/2006/relationships" id="268" r:id="Rc1186f6f7ac64b3c"/>
    <p:sldId xmlns:r="http://schemas.openxmlformats.org/officeDocument/2006/relationships" id="269" r:id="R663f0b5e3dfd48ee"/>
    <p:sldId xmlns:r="http://schemas.openxmlformats.org/officeDocument/2006/relationships" id="270" r:id="R7d9fdb16f4fe40c8"/>
    <p:sldId xmlns:r="http://schemas.openxmlformats.org/officeDocument/2006/relationships" id="271" r:id="R55579c324e5d41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88276209f4d47" /><Relationship Type="http://schemas.openxmlformats.org/officeDocument/2006/relationships/slideMaster" Target="/ppt/slideMasters/slideMaster1.xml" Id="R9e4e3ec854da4ae6" /><Relationship Type="http://schemas.openxmlformats.org/officeDocument/2006/relationships/notesMaster" Target="/ppt/notesMasters/notesMaster1.xml" Id="R7fa17f45398d4178" /><Relationship Type="http://schemas.openxmlformats.org/officeDocument/2006/relationships/presProps" Target="/ppt/presProps.xml" Id="R5cd3171947db49ff" /><Relationship Type="http://schemas.openxmlformats.org/officeDocument/2006/relationships/viewProps" Target="/ppt/viewProps.xml" Id="R157e8e440c8e4752" /><Relationship Type="http://schemas.openxmlformats.org/officeDocument/2006/relationships/tableStyles" Target="/ppt/tableStyles.xml" Id="Ra95f337fb1b64bb3" /><Relationship Type="http://schemas.openxmlformats.org/officeDocument/2006/relationships/slide" Target="/ppt/slides/slide1.xml" Id="R4b25383843d84e82" /><Relationship Type="http://schemas.openxmlformats.org/officeDocument/2006/relationships/slide" Target="/ppt/slides/slide2.xml" Id="R5ca3042314c74040" /><Relationship Type="http://schemas.openxmlformats.org/officeDocument/2006/relationships/slide" Target="/ppt/slides/slide3.xml" Id="Rf130509d3d75467b" /><Relationship Type="http://schemas.openxmlformats.org/officeDocument/2006/relationships/slide" Target="/ppt/slides/slide4.xml" Id="Re245f13b8b8d459e" /><Relationship Type="http://schemas.openxmlformats.org/officeDocument/2006/relationships/slide" Target="/ppt/slides/slide5.xml" Id="R618807ea01b04cbc" /><Relationship Type="http://schemas.openxmlformats.org/officeDocument/2006/relationships/slide" Target="/ppt/slides/slide6.xml" Id="Rb741f267f119433c" /><Relationship Type="http://schemas.openxmlformats.org/officeDocument/2006/relationships/slide" Target="/ppt/slides/slide7.xml" Id="R19c20d4c80d54922" /><Relationship Type="http://schemas.openxmlformats.org/officeDocument/2006/relationships/slide" Target="/ppt/slides/slide8.xml" Id="Rc0b780c04c37413a" /><Relationship Type="http://schemas.openxmlformats.org/officeDocument/2006/relationships/slide" Target="/ppt/slides/slide9.xml" Id="Rbebca55cec3944fb" /><Relationship Type="http://schemas.openxmlformats.org/officeDocument/2006/relationships/slide" Target="/ppt/slides/slide10.xml" Id="R804bf843f2bc4f9f" /><Relationship Type="http://schemas.openxmlformats.org/officeDocument/2006/relationships/slide" Target="/ppt/slides/slide11.xml" Id="R04c18c24951d4b31" /><Relationship Type="http://schemas.openxmlformats.org/officeDocument/2006/relationships/slide" Target="/ppt/slides/slide12.xml" Id="R8d93e0e9e2cf400b" /><Relationship Type="http://schemas.openxmlformats.org/officeDocument/2006/relationships/slide" Target="/ppt/slides/slide13.xml" Id="Rc1186f6f7ac64b3c" /><Relationship Type="http://schemas.openxmlformats.org/officeDocument/2006/relationships/slide" Target="/ppt/slides/slide14.xml" Id="R663f0b5e3dfd48ee" /><Relationship Type="http://schemas.openxmlformats.org/officeDocument/2006/relationships/slide" Target="/ppt/slides/slide15.xml" Id="R7d9fdb16f4fe40c8" /><Relationship Type="http://schemas.openxmlformats.org/officeDocument/2006/relationships/slide" Target="/ppt/slides/slide16.xml" Id="R55579c324e5d41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3f29fb0d9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29acf24da34546" /><Relationship Type="http://schemas.openxmlformats.org/officeDocument/2006/relationships/notesMaster" Target="/ppt/notesMasters/notesMaster1.xml" Id="Rf49125c34465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f4837bba8b419c" /><Relationship Type="http://schemas.openxmlformats.org/officeDocument/2006/relationships/notesMaster" Target="/ppt/notesMasters/notesMaster1.xml" Id="R98707ca197e3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d12e3f4c4418d" /><Relationship Type="http://schemas.openxmlformats.org/officeDocument/2006/relationships/notesMaster" Target="/ppt/notesMasters/notesMaster1.xml" Id="R80a231b88c5e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67cb26249436d" /><Relationship Type="http://schemas.openxmlformats.org/officeDocument/2006/relationships/notesMaster" Target="/ppt/notesMasters/notesMaster1.xml" Id="Rcfcf02058a7a4e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6f1b1df2dd4406" /><Relationship Type="http://schemas.openxmlformats.org/officeDocument/2006/relationships/notesMaster" Target="/ppt/notesMasters/notesMaster1.xml" Id="Rd4b59a45d782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cb393267f4cee" /><Relationship Type="http://schemas.openxmlformats.org/officeDocument/2006/relationships/notesMaster" Target="/ppt/notesMasters/notesMaster1.xml" Id="R335118906bbc44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157e0d490a4a17" /><Relationship Type="http://schemas.openxmlformats.org/officeDocument/2006/relationships/notesMaster" Target="/ppt/notesMasters/notesMaster1.xml" Id="R022ed3afa7b643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78ad4c69b4598" /><Relationship Type="http://schemas.openxmlformats.org/officeDocument/2006/relationships/notesMaster" Target="/ppt/notesMasters/notesMaster1.xml" Id="R7a352c028aa54e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a7eb2cbe614c9b" /><Relationship Type="http://schemas.openxmlformats.org/officeDocument/2006/relationships/notesMaster" Target="/ppt/notesMasters/notesMaster1.xml" Id="R0f9ccd385fd148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b4bbd9a9074a12" /><Relationship Type="http://schemas.openxmlformats.org/officeDocument/2006/relationships/notesMaster" Target="/ppt/notesMasters/notesMaster1.xml" Id="R9661cbdef08b45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72d41545834b26" /><Relationship Type="http://schemas.openxmlformats.org/officeDocument/2006/relationships/notesMaster" Target="/ppt/notesMasters/notesMaster1.xml" Id="Rae637c0c98d948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289b5e4a76435f" /><Relationship Type="http://schemas.openxmlformats.org/officeDocument/2006/relationships/notesMaster" Target="/ppt/notesMasters/notesMaster1.xml" Id="R4c9900cc39c74d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365762abb14fcb" /><Relationship Type="http://schemas.openxmlformats.org/officeDocument/2006/relationships/notesMaster" Target="/ppt/notesMasters/notesMaster1.xml" Id="Rfbd57caa83a648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ed14bfdff044e9" /><Relationship Type="http://schemas.openxmlformats.org/officeDocument/2006/relationships/notesMaster" Target="/ppt/notesMasters/notesMaster1.xml" Id="Ra1cdc263e6f54a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604c4b695242c9" /><Relationship Type="http://schemas.openxmlformats.org/officeDocument/2006/relationships/notesMaster" Target="/ppt/notesMasters/notesMaster1.xml" Id="Rd1686d256c1c48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137a44cd2a47a5" /><Relationship Type="http://schemas.openxmlformats.org/officeDocument/2006/relationships/notesMaster" Target="/ppt/notesMasters/notesMaster1.xml" Id="R15505c047622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c281aeb7c42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1fa637d6c4e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3cc98a2934e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c81248f2648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6573da20b47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daf0d86624e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709889b174d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80cc72ea145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1988903a74a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9d514429741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1dc854fd54b2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CE54F0-17ED-B370-AC7D-576E190D67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DEFFAC-5AE5-0E93-83FD-DAD6AAE158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F772DE-C0F0-6C44-6F1F-B0471E9E30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67DFA8-A63E-4653-1DFD-35F1952A00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9E8C9-46FD-77EC-1918-CBFC05C8AF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DE36A0-1207-2514-6B54-590C7613D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0BD80E-C786-1BC3-26D8-42713F268E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34914A-BBF7-A045-3E3C-25540EDA48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E42D19-72AE-C72D-95EE-55A0A85CD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3ECFE-7932-B8C9-9CB7-651135F7FE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B50273-C258-996E-A2F1-8C14F2F57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21AFEB-6AEF-4A2D-6B06-67A8150CB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8FC9F-A56C-1DA7-F591-A563F8000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FB16D5-D3FE-7CA4-AB14-215D4BC30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221306-A243-3C0D-A72E-29EFFB6FF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A0152-2E12-1633-988D-2AB9F31AE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37EE9-3D6A-C7F7-C7E4-583077A9EC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F16B2D-5213-2756-11A9-E06D9AC565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6B6F3C-06D3-209D-22BE-413C0EE3D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F82A93-5D8C-CCE1-F950-05D205AFF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B1E3F0-0E71-374C-3DBC-5B4174317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788254-CDEC-052F-A5EF-D6220F5C4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B573FE-D29E-FD48-6B0C-4F94825DAC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51F83A-94DA-B4EB-956E-D8783623FF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0278B1-AA2C-2CC7-9952-36DFDBEB80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D79105-2100-6B98-0CC8-A36CE2A3CA7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434C31-2B9E-8DD5-8565-9BEB7C795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DCCFC11-56E9-B078-298D-2F02C7DF24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F29482-7030-A8E7-B56C-F2F576A55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2F0C06-9170-7FF2-7F82-9ABF85E57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6723A27-DC6A-7700-A2E9-2FA919B78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92DB14F-D13B-00FB-45C9-6FB9CE4084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AABEFE7-A587-4916-F8AE-6283FEAC0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021DE03-8601-F542-B026-02EF2AD09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C4B9BA-FCB3-E5CB-5FFB-3F8ACF183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7111A1-4C80-11F6-5AFA-08E44CD0E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24F73-CBDD-FDDF-9B28-8D43C675E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436DF3-AE97-1809-F94F-BD66FD198F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32C018-B974-384D-A967-5C3B2FA4E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7FC97F-1C0F-C2E6-AF32-8FF078A57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1B7681-6E84-55BA-929A-8F08FF7BED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69E8A2-4112-F523-5BFC-A2AE9415A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4E677B-B6E2-265D-6204-B84FD8756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A81D97-FA52-D1CC-6868-5D3002541C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22B250-2DEA-3355-028F-EEE10EBF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918570-AFDC-69B6-6242-E9EBFB785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9314A01-3CAA-C881-2948-D35F42488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58EBAC-431D-B2CE-B74E-87E10E5C6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5B52A1-0FFA-1EBA-4DC4-1D2DFD8C1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C78023-2069-46DA-01F1-DB0926B3C5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6AD451-910B-EDD9-4C58-96B4178425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A4E105-23CF-9187-291F-82016C7313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BB8386-534F-BD74-22FB-19D49E210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1FDD-8EE0-C145-BC74-3CF9B0051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EE82D7-D0C9-EC01-29F1-7FDF20FD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1AB9C1-4743-7BDE-74D0-A07CA8F8F4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FD2B2-4D1F-B382-835F-499F67B55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69907F-761E-A051-8775-569704B726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d44a6edb243e9" /><Relationship Type="http://schemas.openxmlformats.org/officeDocument/2006/relationships/slideLayout" Target="/ppt/slideLayouts/slideLayout1.xml" Id="R06930451234c460e" /><Relationship Type="http://schemas.openxmlformats.org/officeDocument/2006/relationships/slideLayout" Target="/ppt/slideLayouts/slideLayout2.xml" Id="Ra18c3b10ab1141c2" /><Relationship Type="http://schemas.openxmlformats.org/officeDocument/2006/relationships/slideLayout" Target="/ppt/slideLayouts/slideLayout3.xml" Id="R541bc650c09d4a5e" /><Relationship Type="http://schemas.openxmlformats.org/officeDocument/2006/relationships/slideLayout" Target="/ppt/slideLayouts/slideLayout4.xml" Id="Rc566bc43755045ad" /><Relationship Type="http://schemas.openxmlformats.org/officeDocument/2006/relationships/slideLayout" Target="/ppt/slideLayouts/slideLayout5.xml" Id="Rfbab8be8690e4103" /><Relationship Type="http://schemas.openxmlformats.org/officeDocument/2006/relationships/slideLayout" Target="/ppt/slideLayouts/slideLayout6.xml" Id="R77a7377f4a8b4d29" /><Relationship Type="http://schemas.openxmlformats.org/officeDocument/2006/relationships/slideLayout" Target="/ppt/slideLayouts/slideLayout7.xml" Id="R3f7d605d62e64b23" /><Relationship Type="http://schemas.openxmlformats.org/officeDocument/2006/relationships/slideLayout" Target="/ppt/slideLayouts/slideLayout8.xml" Id="R4007a48d008e4a7c" /><Relationship Type="http://schemas.openxmlformats.org/officeDocument/2006/relationships/slideLayout" Target="/ppt/slideLayouts/slideLayout9.xml" Id="R1d3089eea665466c" /><Relationship Type="http://schemas.openxmlformats.org/officeDocument/2006/relationships/slideLayout" Target="/ppt/slideLayouts/slideLayout10.xml" Id="R4ee99f8eb2f04612" /><Relationship Type="http://schemas.openxmlformats.org/officeDocument/2006/relationships/slideLayout" Target="/ppt/slideLayouts/slideLayout11.xml" Id="R96e463755f70486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9B743B-7E29-195B-B32C-61227E408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ACF79CD-8398-EC94-2C4B-249A96EF3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790DDA-AB0F-94CA-8C26-55A85E40B7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1889ED-6CAA-22A0-19CE-A79BF39072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AA639D-48FC-FB47-D15A-49180C11B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30451234c460e"/>
    <p:sldLayoutId xmlns:r="http://schemas.openxmlformats.org/officeDocument/2006/relationships" id="2147483650" r:id="Ra18c3b10ab1141c2"/>
    <p:sldLayoutId xmlns:r="http://schemas.openxmlformats.org/officeDocument/2006/relationships" id="2147483651" r:id="R541bc650c09d4a5e"/>
    <p:sldLayoutId xmlns:r="http://schemas.openxmlformats.org/officeDocument/2006/relationships" id="2147483652" r:id="Rc566bc43755045ad"/>
    <p:sldLayoutId xmlns:r="http://schemas.openxmlformats.org/officeDocument/2006/relationships" id="2147483653" r:id="Rfbab8be8690e4103"/>
    <p:sldLayoutId xmlns:r="http://schemas.openxmlformats.org/officeDocument/2006/relationships" id="2147483654" r:id="R77a7377f4a8b4d29"/>
    <p:sldLayoutId xmlns:r="http://schemas.openxmlformats.org/officeDocument/2006/relationships" id="2147483655" r:id="R3f7d605d62e64b23"/>
    <p:sldLayoutId xmlns:r="http://schemas.openxmlformats.org/officeDocument/2006/relationships" id="2147483656" r:id="R4007a48d008e4a7c"/>
    <p:sldLayoutId xmlns:r="http://schemas.openxmlformats.org/officeDocument/2006/relationships" id="2147483657" r:id="R1d3089eea665466c"/>
    <p:sldLayoutId xmlns:r="http://schemas.openxmlformats.org/officeDocument/2006/relationships" id="2147483658" r:id="R4ee99f8eb2f04612"/>
    <p:sldLayoutId xmlns:r="http://schemas.openxmlformats.org/officeDocument/2006/relationships" id="2147483659" r:id="R96e463755f70486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dc204d7624828" /><Relationship Type="http://schemas.openxmlformats.org/officeDocument/2006/relationships/notesSlide" Target="/ppt/notesSlides/notesSlide1.xml" Id="R97bacfeddf2e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7820af1ec434b" /><Relationship Type="http://schemas.openxmlformats.org/officeDocument/2006/relationships/notesSlide" Target="/ppt/notesSlides/notesSlide2.xml" Id="Rce8a5f87e40a4e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7744821929476f" /><Relationship Type="http://schemas.openxmlformats.org/officeDocument/2006/relationships/notesSlide" Target="/ppt/notesSlides/notesSlide3.xml" Id="Ra05ba14c53e1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92a195f8044d8" /><Relationship Type="http://schemas.openxmlformats.org/officeDocument/2006/relationships/notesSlide" Target="/ppt/notesSlides/notesSlide4.xml" Id="R8940875b6d4f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31966cbf504f15" /><Relationship Type="http://schemas.openxmlformats.org/officeDocument/2006/relationships/notesSlide" Target="/ppt/notesSlides/notesSlide5.xml" Id="Radcc4c1725414f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4096c8ce44f61" /><Relationship Type="http://schemas.openxmlformats.org/officeDocument/2006/relationships/notesSlide" Target="/ppt/notesSlides/notesSlide6.xml" Id="R6a1945e0613846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1e4579b6d4606" /><Relationship Type="http://schemas.openxmlformats.org/officeDocument/2006/relationships/notesSlide" Target="/ppt/notesSlides/notesSlide7.xml" Id="Rcfd4be43f347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200d7afb24fa0" /><Relationship Type="http://schemas.openxmlformats.org/officeDocument/2006/relationships/notesSlide" Target="/ppt/notesSlides/notesSlide8.xml" Id="R705a7245c00848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be7ef12384098" /><Relationship Type="http://schemas.openxmlformats.org/officeDocument/2006/relationships/image" Target="/ppt/media/image.png" Id="R4364c35b7c824f26" /><Relationship Type="http://schemas.openxmlformats.org/officeDocument/2006/relationships/notesSlide" Target="/ppt/notesSlides/notesSlide9.xml" Id="Rd23d5b0607e640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48cc7babeb4435" /><Relationship Type="http://schemas.openxmlformats.org/officeDocument/2006/relationships/notesSlide" Target="/ppt/notesSlides/notesSlide10.xml" Id="Rea52c6fb22054b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a5b0cd1174190" /><Relationship Type="http://schemas.openxmlformats.org/officeDocument/2006/relationships/notesSlide" Target="/ppt/notesSlides/notesSlide11.xml" Id="R2dee7cf9f0f24f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5a4102da1648e1" /><Relationship Type="http://schemas.openxmlformats.org/officeDocument/2006/relationships/notesSlide" Target="/ppt/notesSlides/notesSlide12.xml" Id="R70aea75e7d9642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b3c1e18e1495f" /><Relationship Type="http://schemas.openxmlformats.org/officeDocument/2006/relationships/notesSlide" Target="/ppt/notesSlides/notesSlide13.xml" Id="Rfb03f35d980a4a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fd4eac8bb54e5c" /><Relationship Type="http://schemas.openxmlformats.org/officeDocument/2006/relationships/notesSlide" Target="/ppt/notesSlides/notesSlide14.xml" Id="Re8bb5e5b44e84c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938aed4517436f" /><Relationship Type="http://schemas.openxmlformats.org/officeDocument/2006/relationships/notesSlide" Target="/ppt/notesSlides/notesSlide15.xml" Id="R398d0e832fad46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6752bf2944142" /><Relationship Type="http://schemas.openxmlformats.org/officeDocument/2006/relationships/notesSlide" Target="/ppt/notesSlides/notesSlide16.xml" Id="Ree825ffb592d45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C71E7D-C4D5-A762-26E6-54CB2F9E15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6240" y="439738"/>
            <a:ext cx="11399519" cy="1655762"/>
          </a:xfrm>
        </p:spPr>
        <p:txBody>
          <a:bodyPr xmlns:a="http://schemas.openxmlformats.org/drawingml/2006/main">
            <a:normAutofit fontScale="95042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Domain Graph Visualization for PTMs in PTM-WEB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7ED3DC-7598-11A5-41C2-414527CA47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30680" y="2923858"/>
            <a:ext cx="9144000" cy="304260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                                                 </a:t>
            </a:r>
            <a:r>
              <a:rPr sz="2800">
                <a:latin typeface="Times New Roman"/>
                <a:ea typeface="Times New Roman"/>
                <a:cs typeface="Times New Roman"/>
              </a:rPr>
              <a:t>Lab Meeting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 Shiv Kumar</a:t>
            </a: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   Sept 30, 2026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7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DEB20-E886-DA99-BFDF-8839E1297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Contribution scope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1BDF92-7F15-3038-19FD-D0FFFF20A5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2351405"/>
            <a:ext cx="10515600" cy="2616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>
                <a:latin typeface="Times New Roman"/>
                <a:ea typeface="Times New Roman"/>
                <a:cs typeface="Times New Roman"/>
              </a:rPr>
              <a:t>My contribution: Domain Graph for protein domain/PTM mapping.</a:t>
            </a:r>
          </a:p>
          <a:p xmlns:a="http://schemas.openxmlformats.org/drawingml/2006/main">
            <a:r>
              <a:t>Interaction Network existed already; another contributor implemented it.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53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context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combines PTM knowledge with interactive protein views.</a:t>
            </a:r>
          </a:p>
          <a:p xmlns:a="http://schemas.openxmlformats.org/drawingml/2006/main">
            <a:r>
              <a:t>Domain Graph adds a residue-scale view beside the existing network.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5375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The visualization gap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Networks show protein relationships, not sites along a protein.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Graph aligns domain regions and PTMs by residue position.</a:t>
            </a:r>
          </a:p>
        </p:txBody>
      </p:sp>
    </p:spTree>
    <p:extLst>
      <p:ext uri="{BB962C8B-B14F-4D97-AF65-F5344CB8AC3E}">
        <p14:creationId xmlns:p14="http://schemas.microsoft.com/office/powerpoint/2010/main" val="1722204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82DB24-A94D-324F-6AFA-E12BC1131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45D46B-69F1-744A-7199-894173AFF1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90688"/>
            <a:ext cx="11150600" cy="428043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Align protein domains and PTM sites on a residue-scaled track.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buNone/>
            </a:pPr>
            <a:r>
              <a:t>Add the graph to existing PTM-WEB query results.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9565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A37F45-D185-0166-397A-CE0E7C23E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Why sequence context matters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ADC6BD-C2E6-69A1-A9FD-F43F1EBEF9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6FD37-0731-4DE6-BFFB-2849155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Domain annotations and PTM sites are both expressed in residue coordinates.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Placing them on one scale makes their positions and nearby regions visible at a glance.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graph is an exploration aid; biological interpretation still depends on annotation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549466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6BB712-BCC7-14DD-A2C6-D47650706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Design approach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EB35BC-270F-7137-E6F3-486F678389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Map residue coordinates to a shared horizontal scale.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Use distinct segments and markers; reveal details on hover or click.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Support navigation across long proteins with zoom and pan.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3287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55CE1-954F-A93D-6996-15D0A7A0F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830F1C-76F4-A49F-B3DC-8E43DE5466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9" y="1825625"/>
            <a:ext cx="9643534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Char char=" "/>
            </a:pPr>
            <a:r>
              <a:t/>
            </a:r>
          </a:p>
        </p:txBody>
      </p:sp>
      <p:sp>
        <p:nvSpPr>
          <p:cNvPr id="4" name="method-stage-1">
            <a:extLst xmlns:a="http://schemas.openxmlformats.org/drawingml/2006/main">
              <a:ext uri="{FF2B5EF4-FFF2-40B4-BE49-F238E27FC236}">
                <a16:creationId xmlns:a16="http://schemas.microsoft.com/office/drawing/2014/main" id="{A0BA8D51-06A9-46DF-BEDD-13175E1F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381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14288">
            <a:solidFill>
              <a:srgbClr val="8FADEB"/>
            </a:solidFill>
            <a:prstDash val="solid"/>
          </a:ln>
        </p:spPr>
      </p:sp>
      <p:sp>
        <p:nvSpPr>
          <p:cNvPr id="5" name="method-stage-1-heading">
            <a:extLst xmlns:a="http://schemas.openxmlformats.org/drawingml/2006/main">
              <a:ext uri="{FF2B5EF4-FFF2-40B4-BE49-F238E27FC236}">
                <a16:creationId xmlns:a16="http://schemas.microsoft.com/office/drawing/2014/main" id="{61544081-23C1-4455-8DEC-264A6DD0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rPr>
              <a:t>01  QUERY</a:t>
            </a:r>
          </a:p>
        </p:txBody>
      </p:sp>
      <p:sp>
        <p:nvSpPr>
          <p:cNvPr id="6" name="method-stage-1-detail">
            <a:extLst xmlns:a="http://schemas.openxmlformats.org/drawingml/2006/main">
              <a:ext uri="{FF2B5EF4-FFF2-40B4-BE49-F238E27FC236}">
                <a16:creationId xmlns:a16="http://schemas.microsoft.com/office/drawing/2014/main" id="{8FD338BF-9EA1-4A81-BE17-CCEAFD0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038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Select a protein from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existing query results.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Use its primary UniProt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accession.</a:t>
            </a:r>
          </a:p>
        </p:txBody>
      </p:sp>
      <p:sp>
        <p:nvSpPr>
          <p:cNvPr id="7" name="method-stage-2">
            <a:extLst xmlns:a="http://schemas.openxmlformats.org/drawingml/2006/main">
              <a:ext uri="{FF2B5EF4-FFF2-40B4-BE49-F238E27FC236}">
                <a16:creationId xmlns:a16="http://schemas.microsoft.com/office/drawing/2014/main" id="{0DF44A7F-E9C5-4701-9D56-4ED833E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381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14288">
            <a:solidFill>
              <a:srgbClr val="8FADEB"/>
            </a:solidFill>
            <a:prstDash val="solid"/>
          </a:ln>
        </p:spPr>
      </p:sp>
      <p:sp>
        <p:nvSpPr>
          <p:cNvPr id="8" name="method-stage-2-heading">
            <a:extLst xmlns:a="http://schemas.openxmlformats.org/drawingml/2006/main">
              <a:ext uri="{FF2B5EF4-FFF2-40B4-BE49-F238E27FC236}">
                <a16:creationId xmlns:a16="http://schemas.microsoft.com/office/drawing/2014/main" id="{B2C2A2D1-C4AB-466D-8005-8B82BC3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rPr>
              <a:t>02  FETCH</a:t>
            </a:r>
          </a:p>
        </p:txBody>
      </p:sp>
      <p:sp>
        <p:nvSpPr>
          <p:cNvPr id="9" name="method-stage-2-detail">
            <a:extLst xmlns:a="http://schemas.openxmlformats.org/drawingml/2006/main">
              <a:ext uri="{FF2B5EF4-FFF2-40B4-BE49-F238E27FC236}">
                <a16:creationId xmlns:a16="http://schemas.microsoft.com/office/drawing/2014/main" id="{2DD0CF1F-5503-47F0-AF0B-21AF566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038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15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GET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/api/domains/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{accession}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UniProt: sequence, length,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domains and PTM features.</a:t>
            </a:r>
          </a:p>
        </p:txBody>
      </p:sp>
      <p:sp>
        <p:nvSpPr>
          <p:cNvPr id="10" name="method-stage-3">
            <a:extLst xmlns:a="http://schemas.openxmlformats.org/drawingml/2006/main">
              <a:ext uri="{FF2B5EF4-FFF2-40B4-BE49-F238E27FC236}">
                <a16:creationId xmlns:a16="http://schemas.microsoft.com/office/drawing/2014/main" id="{2D17956A-B4C4-4CC9-80D8-EFC09644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14288">
            <a:solidFill>
              <a:srgbClr val="8FADEB"/>
            </a:solidFill>
            <a:prstDash val="solid"/>
          </a:ln>
        </p:spPr>
      </p:sp>
      <p:sp>
        <p:nvSpPr>
          <p:cNvPr id="11" name="method-stage-3-heading">
            <a:extLst xmlns:a="http://schemas.openxmlformats.org/drawingml/2006/main">
              <a:ext uri="{FF2B5EF4-FFF2-40B4-BE49-F238E27FC236}">
                <a16:creationId xmlns:a16="http://schemas.microsoft.com/office/drawing/2014/main" id="{A0D87DF0-4144-420E-9560-8B4D3A66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rPr>
              <a:t>03  MAP</a:t>
            </a:r>
          </a:p>
        </p:txBody>
      </p:sp>
      <p:sp>
        <p:nvSpPr>
          <p:cNvPr id="12" name="method-stage-3-detail">
            <a:extLst xmlns:a="http://schemas.openxmlformats.org/drawingml/2006/main">
              <a:ext uri="{FF2B5EF4-FFF2-40B4-BE49-F238E27FC236}">
                <a16:creationId xmlns:a16="http://schemas.microsoft.com/office/drawing/2014/main" id="{7A522E79-5BA4-46B5-8041-44A9C46D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2038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5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D3.js: residue scale.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Domains: linear track.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PTM category: marker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shape + color.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Legend updates per protein.</a:t>
            </a:r>
          </a:p>
        </p:txBody>
      </p:sp>
      <p:sp>
        <p:nvSpPr>
          <p:cNvPr id="13" name="method-stage-4">
            <a:extLst xmlns:a="http://schemas.openxmlformats.org/drawingml/2006/main">
              <a:ext uri="{FF2B5EF4-FFF2-40B4-BE49-F238E27FC236}">
                <a16:creationId xmlns:a16="http://schemas.microsoft.com/office/drawing/2014/main" id="{780281E1-9509-4B05-9F68-3D5F7824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381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14288">
            <a:solidFill>
              <a:srgbClr val="8FADEB"/>
            </a:solidFill>
            <a:prstDash val="solid"/>
          </a:ln>
        </p:spPr>
      </p:sp>
      <p:sp>
        <p:nvSpPr>
          <p:cNvPr id="14" name="method-stage-4-heading">
            <a:extLst xmlns:a="http://schemas.openxmlformats.org/drawingml/2006/main">
              <a:ext uri="{FF2B5EF4-FFF2-40B4-BE49-F238E27FC236}">
                <a16:creationId xmlns:a16="http://schemas.microsoft.com/office/drawing/2014/main" id="{5056D112-953E-4890-8352-540E763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4E8C"/>
                </a:solidFill>
                <a:latin typeface="Times New Roman"/>
                <a:ea typeface="Times New Roman"/>
                <a:cs typeface="Times New Roman"/>
              </a:rPr>
              <a:t>04  EXPLORE</a:t>
            </a:r>
          </a:p>
        </p:txBody>
      </p:sp>
      <p:sp>
        <p:nvSpPr>
          <p:cNvPr id="15" name="method-stage-4-detail">
            <a:extLst xmlns:a="http://schemas.openxmlformats.org/drawingml/2006/main">
              <a:ext uri="{FF2B5EF4-FFF2-40B4-BE49-F238E27FC236}">
                <a16:creationId xmlns:a16="http://schemas.microsoft.com/office/drawing/2014/main" id="{CA211D1F-3A64-4720-B162-F1B9C61F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2038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59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Switch view: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Network legend only in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Interaction view.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PTM legend lists current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protein’s observed types.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Zoom/pan; hover; click domain</a:t>
            </a:r>
          </a:p>
          <a:p xmlns:a="http://schemas.openxmlformats.org/drawingml/2006/main">
            <a:pPr algn="ctr">
              <a:def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to inspect sequence.</a:t>
            </a:r>
          </a:p>
        </p:txBody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33700" y="3667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91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53100" y="3667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91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72500" y="3667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91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62381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B3AAA6-D751-3899-EF29-54507EA71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KDM5C example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138B90-C474-795D-94F5-51A988065A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59455"/>
            <a:ext cx="10515600" cy="48122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Example shown: human KDM5C (P41229), viewed in the Domain Graph.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4c35b7c824f26"/>
          <a:srcRect xmlns:a="http://schemas.openxmlformats.org/drawingml/2006/main" l="0" t="33494" r="0" b="33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28875"/>
            <a:ext cx="10515600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499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C83A17-89D3-9A49-02A0-2791DB7D3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What the view shows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23DEFA-7139-5E81-1508-078DE893D2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KDM5C (P41229): 1,560 aa, 3 domain regions, 12 PTM sites.</a:t>
            </a:r>
            <a:endParaRPr sz="2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Regions: JmjN, ARID, and JmjC.</a:t>
            </a: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Visible PTMs: phosphorylation and ubiquitin/SUMO.</a:t>
            </a:r>
          </a:p>
        </p:txBody>
      </p:sp>
    </p:spTree>
    <p:extLst>
      <p:ext uri="{BB962C8B-B14F-4D97-AF65-F5344CB8AC3E}">
        <p14:creationId xmlns:p14="http://schemas.microsoft.com/office/powerpoint/2010/main" val="4003612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Contribution boundary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9662DB-5118-600D-E93F-FA73484D86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 sz="2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95911-DD17-4205-ABF8-03E49A1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Interaction Network was already part of PTM-WEB.</a:t>
            </a:r>
          </a:p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It was implemented by another contributor.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My contribution: Domain Graph and integration with query results.</a:t>
            </a:r>
          </a:p>
        </p:txBody>
      </p:sp>
    </p:spTree>
    <p:extLst>
      <p:ext uri="{BB962C8B-B14F-4D97-AF65-F5344CB8AC3E}">
        <p14:creationId xmlns:p14="http://schemas.microsoft.com/office/powerpoint/2010/main" val="37377224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Using the graph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A4AAE2-0511-4280-BA90-1C22DC8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91" y="1838036"/>
            <a:ext cx="9772227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Interaction Network remains a separate, existing view.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Choose Domain Graph and select a queried protein.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Click a PTM cell to show that protein’s graph.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Scroll to zoom; drag to pan; click a domain to view its sequence.</a:t>
            </a:r>
          </a:p>
        </p:txBody>
      </p:sp>
    </p:spTree>
    <p:extLst>
      <p:ext uri="{BB962C8B-B14F-4D97-AF65-F5344CB8AC3E}">
        <p14:creationId xmlns:p14="http://schemas.microsoft.com/office/powerpoint/2010/main" val="17437228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1838F4-F664-FECD-191C-9B5240256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Current limitations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32088B-7BF6-7501-E82C-E8143AAE04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Backend currently returns UniProt domains only.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InterPro/Pfam retrieval is disabled in this code version.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and PTM details require UniProt access.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If fetches fail, the UI can fall back to curated PTM-only data.</a:t>
            </a:r>
          </a:p>
        </p:txBody>
      </p:sp>
    </p:spTree>
    <p:extLst>
      <p:ext uri="{BB962C8B-B14F-4D97-AF65-F5344CB8AC3E}">
        <p14:creationId xmlns:p14="http://schemas.microsoft.com/office/powerpoint/2010/main" val="2513720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8935CC-4EFB-5B2E-5991-F9B54166C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Work completed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B399BF-36BE-6EF8-80A2-EB484DB650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26 Sep 2026 — first Domain Graph version committed.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28 Sep 2026 — follow-up: table navigation and graph refinements.</a:t>
            </a:r>
          </a:p>
        </p:txBody>
      </p:sp>
    </p:spTree>
    <p:extLst>
      <p:ext uri="{BB962C8B-B14F-4D97-AF65-F5344CB8AC3E}">
        <p14:creationId xmlns:p14="http://schemas.microsoft.com/office/powerpoint/2010/main" val="9561903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FD8992-AAD4-4F9C-93B7-C1F9AF1A2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Possible next steps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231A9E-233A-665C-CBFD-1FE0D49989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Try multi-protein queries and varied annotation coverage.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Review InterPro/Pfam if retrieval is restored and verified.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Check the flow with representative proteins.</a:t>
            </a:r>
          </a:p>
        </p:txBody>
      </p:sp>
    </p:spTree>
    <p:extLst>
      <p:ext uri="{BB962C8B-B14F-4D97-AF65-F5344CB8AC3E}">
        <p14:creationId xmlns:p14="http://schemas.microsoft.com/office/powerpoint/2010/main" val="34186323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D953F-512B-D23C-E38C-2202E6A39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4467" y="2617258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6078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2026-09-28T07:19:25.5040000Z</dcterms:created>
  <dcterms:modified xsi:type="dcterms:W3CDTF">2026-09-28T07:19:25.5040000Z</dcterms:modified>
</coreProperties>
</file>